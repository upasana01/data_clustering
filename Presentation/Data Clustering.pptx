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7"/>
  </p:notesMasterIdLst>
  <p:sldIdLst>
    <p:sldId id="278" r:id="rId2"/>
    <p:sldId id="281" r:id="rId3"/>
    <p:sldId id="279" r:id="rId4"/>
    <p:sldId id="307" r:id="rId5"/>
    <p:sldId id="280" r:id="rId6"/>
    <p:sldId id="297" r:id="rId7"/>
    <p:sldId id="295" r:id="rId8"/>
    <p:sldId id="296" r:id="rId9"/>
    <p:sldId id="304" r:id="rId10"/>
    <p:sldId id="305" r:id="rId11"/>
    <p:sldId id="299" r:id="rId12"/>
    <p:sldId id="302" r:id="rId13"/>
    <p:sldId id="303" r:id="rId14"/>
    <p:sldId id="300" r:id="rId15"/>
    <p:sldId id="293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9" autoAdjust="0"/>
  </p:normalViewPr>
  <p:slideViewPr>
    <p:cSldViewPr snapToGrid="0" snapToObjects="1">
      <p:cViewPr varScale="1">
        <p:scale>
          <a:sx n="86" d="100"/>
          <a:sy n="86" d="100"/>
        </p:scale>
        <p:origin x="562" y="53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t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ctr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5646" y="412899"/>
            <a:ext cx="7501632" cy="2072848"/>
          </a:xfrm>
        </p:spPr>
        <p:txBody>
          <a:bodyPr/>
          <a:lstStyle/>
          <a:p>
            <a:r>
              <a:rPr lang="en-US" sz="2800" dirty="0"/>
              <a:t>Amazon food reviews clustering using K-Means, K-Means++ and Agglomerative clustering Algorithms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1060B-300F-3CE3-E5AA-D8E29791C9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Rajashree</a:t>
            </a:r>
            <a:r>
              <a:rPr lang="en-US" dirty="0"/>
              <a:t> </a:t>
            </a:r>
            <a:r>
              <a:rPr lang="en-US" dirty="0" err="1"/>
              <a:t>Pethkar</a:t>
            </a:r>
            <a:endParaRPr lang="en-US" dirty="0"/>
          </a:p>
          <a:p>
            <a:r>
              <a:rPr lang="en-US" dirty="0"/>
              <a:t>Upasana Chaudhari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206" y="2764594"/>
            <a:ext cx="6400800" cy="768096"/>
          </a:xfrm>
        </p:spPr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  <a:latin typeface="+mn-lt"/>
                <a:cs typeface="Arial Black" panose="020B0604020202020204" pitchFamily="34" charset="0"/>
              </a:rPr>
              <a:t>GOALS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5557" y="4048219"/>
            <a:ext cx="6090081" cy="193533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Cluster data using k-means, k-means++ and agglomerative clustering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Visualize the clusters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Compare the results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65E9-D88A-55D3-9D42-BD1C24B6D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683" y="454892"/>
            <a:ext cx="7173867" cy="768096"/>
          </a:xfrm>
        </p:spPr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  <a:latin typeface="+mn-lt"/>
                <a:ea typeface="Arial Regular" pitchFamily="34" charset="-122"/>
                <a:cs typeface="Arial Black" panose="020B0604020202020204" pitchFamily="34" charset="0"/>
              </a:rPr>
              <a:t>How did we do it?</a:t>
            </a:r>
            <a:endParaRPr lang="en-US" sz="4400" b="1" dirty="0">
              <a:solidFill>
                <a:schemeClr val="accent6"/>
              </a:solidFill>
              <a:latin typeface="+mn-lt"/>
              <a:cs typeface="Arial Black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66E5-D2D7-172B-46BA-FEBFE092C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726" y="1501124"/>
            <a:ext cx="6863150" cy="499732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Preprocessed the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Extracted features using TF-IDF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Implemented PCA to reduce the dimensions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Performed K-means , K-means ++, and Agglomerative clustering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Generated the output by plotting the clusters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Compared the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31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9D1742-715A-478F-5E90-04F75CAD6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2C43262-15A2-55C1-D29E-744CCC7E4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79" y="776912"/>
            <a:ext cx="12184557" cy="1643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E02752-3D5B-AF84-CC66-F2F0B0C34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243635"/>
              </p:ext>
            </p:extLst>
          </p:nvPr>
        </p:nvGraphicFramePr>
        <p:xfrm>
          <a:off x="2077374" y="2492583"/>
          <a:ext cx="8691240" cy="4236720"/>
        </p:xfrm>
        <a:graphic>
          <a:graphicData uri="http://schemas.openxmlformats.org/drawingml/2006/table">
            <a:tbl>
              <a:tblPr/>
              <a:tblGrid>
                <a:gridCol w="3311820">
                  <a:extLst>
                    <a:ext uri="{9D8B030D-6E8A-4147-A177-3AD203B41FA5}">
                      <a16:colId xmlns:a16="http://schemas.microsoft.com/office/drawing/2014/main" val="1683509567"/>
                    </a:ext>
                  </a:extLst>
                </a:gridCol>
                <a:gridCol w="5379420">
                  <a:extLst>
                    <a:ext uri="{9D8B030D-6E8A-4147-A177-3AD203B41FA5}">
                      <a16:colId xmlns:a16="http://schemas.microsoft.com/office/drawing/2014/main" val="33485686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Column Name</a:t>
                      </a: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Description</a:t>
                      </a: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138701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ID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Row ID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37958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Product id 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Unique identifier for the product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06685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 err="1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UserId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Unique identifier for the user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48303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 err="1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ProfileName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Profile name of the user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59024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 err="1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HelpfulnessNumerator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Number of users who found the review helpful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46904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 err="1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HelpfulnessDenominator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Number of users who indicated whether they found the review helpful or not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03337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Score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Rating between 1 and 5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26138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Time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Timestamp for the review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68547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Summary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Brief summary of the review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65446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Text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Text of the review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169861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5A8A6E60-86DE-673C-DF4B-D0F90089E97B}"/>
              </a:ext>
            </a:extLst>
          </p:cNvPr>
          <p:cNvSpPr txBox="1">
            <a:spLocks/>
          </p:cNvSpPr>
          <p:nvPr/>
        </p:nvSpPr>
        <p:spPr>
          <a:xfrm>
            <a:off x="2260137" y="35449"/>
            <a:ext cx="7173867" cy="768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ts val="4875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latin typeface="+mn-lt"/>
                <a:ea typeface="Arial Regular" pitchFamily="34" charset="-122"/>
                <a:cs typeface="Arial Black" panose="020B0604020202020204" pitchFamily="34" charset="0"/>
              </a:rPr>
              <a:t>Data Snippet</a:t>
            </a:r>
            <a:endParaRPr lang="en-US" sz="3600" dirty="0">
              <a:latin typeface="+mn-lt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29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0BC6-9DA0-FB4D-8879-DC8B3958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634" y="347472"/>
            <a:ext cx="6766560" cy="768096"/>
          </a:xfrm>
        </p:spPr>
        <p:txBody>
          <a:bodyPr/>
          <a:lstStyle/>
          <a:p>
            <a:r>
              <a:rPr lang="en-US" sz="3200" dirty="0"/>
              <a:t>Preprocessing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2856" y="923278"/>
            <a:ext cx="8579144" cy="56550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Converted the text to lowercase.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Removed punctuation </a:t>
            </a:r>
            <a:r>
              <a:rPr lang="en-US" sz="2000" dirty="0" err="1"/>
              <a:t>i.e</a:t>
            </a:r>
            <a:r>
              <a:rPr lang="en-US" sz="2000" dirty="0"/>
              <a:t> any non-alphanumeric characters in the text is removed.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Replaced occurrences of characters like /(){}\[\]\|@,;.with a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Removed occurrences of bad symbol. </a:t>
            </a:r>
            <a:r>
              <a:rPr lang="en-US" sz="2000" dirty="0" err="1"/>
              <a:t>Eg</a:t>
            </a:r>
            <a:r>
              <a:rPr lang="en-US" sz="2000" dirty="0"/>
              <a:t>- characters like #+_“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Removed digits.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Split the text into individual words, removes stop words using the STOPWORDS set, and joins the remaining words back into a single string.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Dropped unwanted columns.</a:t>
            </a:r>
          </a:p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622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7D2E-080D-DBDD-73C4-3C38A2B7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152"/>
            <a:ext cx="10846885" cy="768096"/>
          </a:xfrm>
        </p:spPr>
        <p:txBody>
          <a:bodyPr/>
          <a:lstStyle/>
          <a:p>
            <a:r>
              <a:rPr lang="en-US" sz="3200" dirty="0"/>
              <a:t>Feature Extraction using TFIDF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F20BE-640F-EFAB-3A43-2AA146DB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8FDE3-DBA4-6A04-C75D-E56FE92EF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028" y="1089822"/>
            <a:ext cx="7901571" cy="576817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TF-IDF stands for Term Frequency-Inverse Document Frequency. It is a numerical statistic used to evaluate the importance of a term (word) within a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TF-IDF vectorizer computes the TF-IDF value for each term (word) in each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It creates a matrix where each row represents a document, each column represents a term, and the cell values represent the TF-IDF scores.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resulting TF-IDF matrix is a sparse matrix, serves as the feature representation of the documents for text clustering.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56536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0BC6-9DA0-FB4D-8879-DC8B3958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7136" y="934720"/>
            <a:ext cx="6766560" cy="768096"/>
          </a:xfrm>
        </p:spPr>
        <p:txBody>
          <a:bodyPr/>
          <a:lstStyle/>
          <a:p>
            <a:r>
              <a:rPr lang="en-US" sz="3600" dirty="0"/>
              <a:t>Implemented 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7136" y="2308352"/>
            <a:ext cx="8214419" cy="270052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Principal Component Analysis (PCA) is a technique used to reduce the dimensionality of data while retaining the most important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Implemented PCA using </a:t>
            </a:r>
            <a:r>
              <a:rPr lang="en-US" sz="2400" dirty="0" err="1"/>
              <a:t>sklearn</a:t>
            </a:r>
            <a:r>
              <a:rPr lang="en-US" sz="2400" dirty="0"/>
              <a:t> library.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716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B5AF54-6B9F-2241-B957-218462BE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E79C8C-1ECD-064D-040F-4EA137E70B31}"/>
              </a:ext>
            </a:extLst>
          </p:cNvPr>
          <p:cNvSpPr txBox="1">
            <a:spLocks/>
          </p:cNvSpPr>
          <p:nvPr/>
        </p:nvSpPr>
        <p:spPr>
          <a:xfrm>
            <a:off x="-1012500" y="1598"/>
            <a:ext cx="13204499" cy="76809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ts val="4875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err="1">
                <a:latin typeface="+mn-lt"/>
              </a:rPr>
              <a:t>Kmeans</a:t>
            </a:r>
            <a:r>
              <a:rPr lang="en-US" sz="3200" dirty="0">
                <a:latin typeface="+mn-lt"/>
              </a:rPr>
              <a:t> and </a:t>
            </a:r>
            <a:r>
              <a:rPr lang="en-US" sz="3200" dirty="0" err="1">
                <a:latin typeface="+mn-lt"/>
              </a:rPr>
              <a:t>Kmeans</a:t>
            </a:r>
            <a:r>
              <a:rPr lang="en-US" sz="3200" dirty="0">
                <a:latin typeface="+mn-lt"/>
              </a:rPr>
              <a:t>++</a:t>
            </a:r>
          </a:p>
        </p:txBody>
      </p:sp>
      <p:pic>
        <p:nvPicPr>
          <p:cNvPr id="6" name="Picture 5" descr="A picture containing screenshot, diagram, plot, line&#10;&#10;Description automatically generated">
            <a:extLst>
              <a:ext uri="{FF2B5EF4-FFF2-40B4-BE49-F238E27FC236}">
                <a16:creationId xmlns:a16="http://schemas.microsoft.com/office/drawing/2014/main" id="{2886CFB7-EA75-A799-C3A1-FD5C25591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71" y="882674"/>
            <a:ext cx="3446480" cy="2546326"/>
          </a:xfrm>
          <a:prstGeom prst="rect">
            <a:avLst/>
          </a:prstGeom>
        </p:spPr>
      </p:pic>
      <p:pic>
        <p:nvPicPr>
          <p:cNvPr id="8" name="Picture 7" descr="A screen shot of a graph&#10;&#10;Description automatically generated with low confidence">
            <a:extLst>
              <a:ext uri="{FF2B5EF4-FFF2-40B4-BE49-F238E27FC236}">
                <a16:creationId xmlns:a16="http://schemas.microsoft.com/office/drawing/2014/main" id="{471D4BD1-A6FC-8B38-C35B-60CB421BB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71" y="3706912"/>
            <a:ext cx="3517501" cy="2598797"/>
          </a:xfrm>
          <a:prstGeom prst="rect">
            <a:avLst/>
          </a:prstGeom>
        </p:spPr>
      </p:pic>
      <p:pic>
        <p:nvPicPr>
          <p:cNvPr id="10" name="Picture 9" descr="A picture containing text, font, screenshot, document&#10;&#10;Description automatically generated">
            <a:extLst>
              <a:ext uri="{FF2B5EF4-FFF2-40B4-BE49-F238E27FC236}">
                <a16:creationId xmlns:a16="http://schemas.microsoft.com/office/drawing/2014/main" id="{6F1CB057-71FF-B296-9307-F02163334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125" y="1265249"/>
            <a:ext cx="4705350" cy="1781175"/>
          </a:xfrm>
          <a:prstGeom prst="rect">
            <a:avLst/>
          </a:prstGeom>
        </p:spPr>
      </p:pic>
      <p:pic>
        <p:nvPicPr>
          <p:cNvPr id="12" name="Picture 11" descr="A picture containing text, font, screenshot, document&#10;&#10;Description automatically generated">
            <a:extLst>
              <a:ext uri="{FF2B5EF4-FFF2-40B4-BE49-F238E27FC236}">
                <a16:creationId xmlns:a16="http://schemas.microsoft.com/office/drawing/2014/main" id="{CA2A0011-B865-9732-F10D-DDE5C6A8EF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7825" y="4101435"/>
            <a:ext cx="481965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10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B5AF54-6B9F-2241-B957-218462BE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E79C8C-1ECD-064D-040F-4EA137E70B31}"/>
              </a:ext>
            </a:extLst>
          </p:cNvPr>
          <p:cNvSpPr txBox="1">
            <a:spLocks/>
          </p:cNvSpPr>
          <p:nvPr/>
        </p:nvSpPr>
        <p:spPr>
          <a:xfrm>
            <a:off x="-1012500" y="1598"/>
            <a:ext cx="13204499" cy="76809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ts val="4875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err="1">
                <a:latin typeface="+mn-lt"/>
              </a:rPr>
              <a:t>Kmeans</a:t>
            </a:r>
            <a:r>
              <a:rPr lang="en-US" sz="3200" dirty="0">
                <a:latin typeface="+mn-lt"/>
              </a:rPr>
              <a:t> and </a:t>
            </a:r>
            <a:r>
              <a:rPr lang="en-US" sz="3200" dirty="0" err="1">
                <a:latin typeface="+mn-lt"/>
              </a:rPr>
              <a:t>Kmeans</a:t>
            </a:r>
            <a:r>
              <a:rPr lang="en-US" sz="3200" dirty="0">
                <a:latin typeface="+mn-lt"/>
              </a:rPr>
              <a:t>++</a:t>
            </a:r>
          </a:p>
        </p:txBody>
      </p:sp>
      <p:pic>
        <p:nvPicPr>
          <p:cNvPr id="5" name="Picture 4" descr="A picture containing screenshot, plot, diagram, text&#10;&#10;Description automatically generated">
            <a:extLst>
              <a:ext uri="{FF2B5EF4-FFF2-40B4-BE49-F238E27FC236}">
                <a16:creationId xmlns:a16="http://schemas.microsoft.com/office/drawing/2014/main" id="{11260194-74C5-D626-51BE-034696A89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82" y="931712"/>
            <a:ext cx="3509279" cy="2592723"/>
          </a:xfrm>
          <a:prstGeom prst="rect">
            <a:avLst/>
          </a:prstGeom>
        </p:spPr>
      </p:pic>
      <p:pic>
        <p:nvPicPr>
          <p:cNvPr id="7" name="Picture 6" descr="A screen shot of a graph&#10;&#10;Description automatically generated with low confidence">
            <a:extLst>
              <a:ext uri="{FF2B5EF4-FFF2-40B4-BE49-F238E27FC236}">
                <a16:creationId xmlns:a16="http://schemas.microsoft.com/office/drawing/2014/main" id="{894347EF-54DD-5DD5-BFC6-45C058B49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82" y="3857832"/>
            <a:ext cx="3509281" cy="2592724"/>
          </a:xfrm>
          <a:prstGeom prst="rect">
            <a:avLst/>
          </a:prstGeom>
        </p:spPr>
      </p:pic>
      <p:pic>
        <p:nvPicPr>
          <p:cNvPr id="9" name="Picture 8" descr="A picture containing text, font, screenshot, document&#10;&#10;Description automatically generated">
            <a:extLst>
              <a:ext uri="{FF2B5EF4-FFF2-40B4-BE49-F238E27FC236}">
                <a16:creationId xmlns:a16="http://schemas.microsoft.com/office/drawing/2014/main" id="{362FDF37-4065-CF72-6D0D-43E87E68A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9749" y="1318435"/>
            <a:ext cx="4791075" cy="1819275"/>
          </a:xfrm>
          <a:prstGeom prst="rect">
            <a:avLst/>
          </a:prstGeom>
        </p:spPr>
      </p:pic>
      <p:pic>
        <p:nvPicPr>
          <p:cNvPr id="11" name="Picture 10" descr="A picture containing text, font, screenshot, white&#10;&#10;Description automatically generated">
            <a:extLst>
              <a:ext uri="{FF2B5EF4-FFF2-40B4-BE49-F238E27FC236}">
                <a16:creationId xmlns:a16="http://schemas.microsoft.com/office/drawing/2014/main" id="{23596BFC-D082-2D55-3E76-8593E9A311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1279" y="4225506"/>
            <a:ext cx="47910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01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B5AF54-6B9F-2241-B957-218462BE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E79C8C-1ECD-064D-040F-4EA137E70B31}"/>
              </a:ext>
            </a:extLst>
          </p:cNvPr>
          <p:cNvSpPr txBox="1">
            <a:spLocks/>
          </p:cNvSpPr>
          <p:nvPr/>
        </p:nvSpPr>
        <p:spPr>
          <a:xfrm>
            <a:off x="-1012500" y="1598"/>
            <a:ext cx="13204499" cy="76809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ts val="4875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err="1">
                <a:latin typeface="+mn-lt"/>
              </a:rPr>
              <a:t>Kmeans</a:t>
            </a:r>
            <a:r>
              <a:rPr lang="en-US" sz="3200" dirty="0">
                <a:latin typeface="+mn-lt"/>
              </a:rPr>
              <a:t> and </a:t>
            </a:r>
            <a:r>
              <a:rPr lang="en-US" sz="3200" dirty="0" err="1">
                <a:latin typeface="+mn-lt"/>
              </a:rPr>
              <a:t>Kmeans</a:t>
            </a:r>
            <a:r>
              <a:rPr lang="en-US" sz="3200" dirty="0">
                <a:latin typeface="+mn-lt"/>
              </a:rPr>
              <a:t>++</a:t>
            </a:r>
          </a:p>
        </p:txBody>
      </p:sp>
      <p:pic>
        <p:nvPicPr>
          <p:cNvPr id="5" name="Picture 4" descr="A screen shot of a graph&#10;&#10;Description automatically generated with low confidence">
            <a:extLst>
              <a:ext uri="{FF2B5EF4-FFF2-40B4-BE49-F238E27FC236}">
                <a16:creationId xmlns:a16="http://schemas.microsoft.com/office/drawing/2014/main" id="{001B6031-7A2E-623F-281C-4CA0C0232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29" y="2029032"/>
            <a:ext cx="4147815" cy="3064486"/>
          </a:xfrm>
          <a:prstGeom prst="rect">
            <a:avLst/>
          </a:prstGeom>
        </p:spPr>
      </p:pic>
      <p:pic>
        <p:nvPicPr>
          <p:cNvPr id="7" name="Picture 6" descr="A black text on a white background&#10;&#10;Description automatically generated with low confidence">
            <a:extLst>
              <a:ext uri="{FF2B5EF4-FFF2-40B4-BE49-F238E27FC236}">
                <a16:creationId xmlns:a16="http://schemas.microsoft.com/office/drawing/2014/main" id="{0F797A89-892F-7FC3-79EC-3CC110E52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184" y="2613537"/>
            <a:ext cx="481012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40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B5AF54-6B9F-2241-B957-218462BE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E79C8C-1ECD-064D-040F-4EA137E70B31}"/>
              </a:ext>
            </a:extLst>
          </p:cNvPr>
          <p:cNvSpPr txBox="1">
            <a:spLocks/>
          </p:cNvSpPr>
          <p:nvPr/>
        </p:nvSpPr>
        <p:spPr>
          <a:xfrm>
            <a:off x="2712720" y="-25390"/>
            <a:ext cx="6766560" cy="76809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ts val="4875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+mn-lt"/>
              </a:rPr>
              <a:t>Agglomerative Clustering</a:t>
            </a:r>
          </a:p>
          <a:p>
            <a:endParaRPr lang="en-US" sz="3200" dirty="0">
              <a:latin typeface="+mn-lt"/>
            </a:endParaRPr>
          </a:p>
        </p:txBody>
      </p:sp>
      <p:pic>
        <p:nvPicPr>
          <p:cNvPr id="5" name="Picture 4" descr="A picture containing plot, line, text, diagram&#10;&#10;Description automatically generated">
            <a:extLst>
              <a:ext uri="{FF2B5EF4-FFF2-40B4-BE49-F238E27FC236}">
                <a16:creationId xmlns:a16="http://schemas.microsoft.com/office/drawing/2014/main" id="{4116D3AD-7A7B-F41E-CC3D-86E1DD22F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42" y="825624"/>
            <a:ext cx="3522065" cy="2422822"/>
          </a:xfrm>
          <a:prstGeom prst="rect">
            <a:avLst/>
          </a:prstGeom>
        </p:spPr>
      </p:pic>
      <p:pic>
        <p:nvPicPr>
          <p:cNvPr id="7" name="Picture 6" descr="A picture containing plot, text, line, screenshot&#10;&#10;Description automatically generated">
            <a:extLst>
              <a:ext uri="{FF2B5EF4-FFF2-40B4-BE49-F238E27FC236}">
                <a16:creationId xmlns:a16="http://schemas.microsoft.com/office/drawing/2014/main" id="{4C0146C3-948A-E0D4-58B8-83198691A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05" y="3980629"/>
            <a:ext cx="3415967" cy="2349838"/>
          </a:xfrm>
          <a:prstGeom prst="rect">
            <a:avLst/>
          </a:prstGeom>
        </p:spPr>
      </p:pic>
      <p:pic>
        <p:nvPicPr>
          <p:cNvPr id="14" name="Picture 13" descr="A picture containing text, font, screenshot, white&#10;&#10;Description automatically generated">
            <a:extLst>
              <a:ext uri="{FF2B5EF4-FFF2-40B4-BE49-F238E27FC236}">
                <a16:creationId xmlns:a16="http://schemas.microsoft.com/office/drawing/2014/main" id="{7C184EBF-BCEB-26A8-53C8-0A7E4015D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088" y="1008628"/>
            <a:ext cx="5320432" cy="2056814"/>
          </a:xfrm>
          <a:prstGeom prst="rect">
            <a:avLst/>
          </a:prstGeom>
        </p:spPr>
      </p:pic>
      <p:pic>
        <p:nvPicPr>
          <p:cNvPr id="16" name="Picture 15" descr="A picture containing text, font, screenshot, white&#10;&#10;Description automatically generated">
            <a:extLst>
              <a:ext uri="{FF2B5EF4-FFF2-40B4-BE49-F238E27FC236}">
                <a16:creationId xmlns:a16="http://schemas.microsoft.com/office/drawing/2014/main" id="{46045DC0-C01E-1419-B302-E0B9CE72B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088" y="4110639"/>
            <a:ext cx="5320432" cy="207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96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B5AF54-6B9F-2241-B957-218462BE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 descr="A picture containing text, plot, screenshot, diagram&#10;&#10;Description automatically generated">
            <a:extLst>
              <a:ext uri="{FF2B5EF4-FFF2-40B4-BE49-F238E27FC236}">
                <a16:creationId xmlns:a16="http://schemas.microsoft.com/office/drawing/2014/main" id="{184B7A48-9AA2-8B75-E6B2-0CC9945CC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16" y="3883173"/>
            <a:ext cx="3726438" cy="2563409"/>
          </a:xfrm>
          <a:prstGeom prst="rect">
            <a:avLst/>
          </a:prstGeom>
        </p:spPr>
      </p:pic>
      <p:pic>
        <p:nvPicPr>
          <p:cNvPr id="8" name="Picture 7" descr="A picture containing plot, screenshot, text, diagram&#10;&#10;Description automatically generated">
            <a:extLst>
              <a:ext uri="{FF2B5EF4-FFF2-40B4-BE49-F238E27FC236}">
                <a16:creationId xmlns:a16="http://schemas.microsoft.com/office/drawing/2014/main" id="{8DA2CE6D-8D75-E424-6600-04484F2BB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16" y="861952"/>
            <a:ext cx="3726438" cy="2563410"/>
          </a:xfrm>
          <a:prstGeom prst="rect">
            <a:avLst/>
          </a:prstGeom>
        </p:spPr>
      </p:pic>
      <p:pic>
        <p:nvPicPr>
          <p:cNvPr id="10" name="Picture 9" descr="A text on a white background&#10;&#10;Description automatically generated with low confidence">
            <a:extLst>
              <a:ext uri="{FF2B5EF4-FFF2-40B4-BE49-F238E27FC236}">
                <a16:creationId xmlns:a16="http://schemas.microsoft.com/office/drawing/2014/main" id="{C6D9343D-463A-1EF1-82FA-38F27A70A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539" y="1040220"/>
            <a:ext cx="5695829" cy="2235641"/>
          </a:xfrm>
          <a:prstGeom prst="rect">
            <a:avLst/>
          </a:prstGeom>
        </p:spPr>
      </p:pic>
      <p:pic>
        <p:nvPicPr>
          <p:cNvPr id="12" name="Picture 11" descr="A picture containing text, font, screenshot, document&#10;&#10;Description automatically generated">
            <a:extLst>
              <a:ext uri="{FF2B5EF4-FFF2-40B4-BE49-F238E27FC236}">
                <a16:creationId xmlns:a16="http://schemas.microsoft.com/office/drawing/2014/main" id="{AA6E277B-FB76-9DF7-0A4A-D60BE8BC4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1869" y="4036033"/>
            <a:ext cx="5839564" cy="229492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6822BE6C-4F63-EE53-EE64-8D057200DF5B}"/>
              </a:ext>
            </a:extLst>
          </p:cNvPr>
          <p:cNvSpPr txBox="1">
            <a:spLocks/>
          </p:cNvSpPr>
          <p:nvPr/>
        </p:nvSpPr>
        <p:spPr>
          <a:xfrm>
            <a:off x="2712720" y="-25390"/>
            <a:ext cx="6766560" cy="76809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ts val="4875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+mn-lt"/>
              </a:rPr>
              <a:t>Agglomerative Clustering</a:t>
            </a:r>
          </a:p>
          <a:p>
            <a:endParaRPr 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484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B5AF54-6B9F-2241-B957-218462BE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 descr="A picture containing text, plot, screenshot, diagram&#10;&#10;Description automatically generated">
            <a:extLst>
              <a:ext uri="{FF2B5EF4-FFF2-40B4-BE49-F238E27FC236}">
                <a16:creationId xmlns:a16="http://schemas.microsoft.com/office/drawing/2014/main" id="{E3E10CBB-7C9C-5B1C-2FA9-460D8D25E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11" y="2306015"/>
            <a:ext cx="3939345" cy="2709868"/>
          </a:xfrm>
          <a:prstGeom prst="rect">
            <a:avLst/>
          </a:prstGeom>
        </p:spPr>
      </p:pic>
      <p:pic>
        <p:nvPicPr>
          <p:cNvPr id="5" name="Picture 4" descr="A black text on a white background&#10;&#10;Description automatically generated with low confidence">
            <a:extLst>
              <a:ext uri="{FF2B5EF4-FFF2-40B4-BE49-F238E27FC236}">
                <a16:creationId xmlns:a16="http://schemas.microsoft.com/office/drawing/2014/main" id="{2C31E86A-41F4-22F4-9CCB-B020D1350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406" y="2652805"/>
            <a:ext cx="5209036" cy="205236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228A41E-727A-9539-B198-3A8ACBE29B10}"/>
              </a:ext>
            </a:extLst>
          </p:cNvPr>
          <p:cNvSpPr txBox="1">
            <a:spLocks/>
          </p:cNvSpPr>
          <p:nvPr/>
        </p:nvSpPr>
        <p:spPr>
          <a:xfrm>
            <a:off x="2590083" y="755135"/>
            <a:ext cx="6766560" cy="76809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ts val="4875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+mn-lt"/>
              </a:rPr>
              <a:t>Agglomerative Clustering</a:t>
            </a:r>
          </a:p>
          <a:p>
            <a:endParaRPr 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8365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B5AF54-6B9F-2241-B957-218462BE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A5E90F-3FFB-41C8-D9C6-6C2E097C6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47" y="1100852"/>
            <a:ext cx="3743084" cy="26425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BF7F9F-8528-D5AF-7F9E-72C90C0BD9AB}"/>
              </a:ext>
            </a:extLst>
          </p:cNvPr>
          <p:cNvSpPr txBox="1"/>
          <p:nvPr/>
        </p:nvSpPr>
        <p:spPr>
          <a:xfrm>
            <a:off x="1849713" y="731520"/>
            <a:ext cx="1706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Kmeans</a:t>
            </a:r>
            <a:endParaRPr lang="en-US" dirty="0"/>
          </a:p>
        </p:txBody>
      </p:sp>
      <p:pic>
        <p:nvPicPr>
          <p:cNvPr id="8" name="Picture 7" descr="A picture containing text, diagram, line, plot&#10;&#10;Description automatically generated">
            <a:extLst>
              <a:ext uri="{FF2B5EF4-FFF2-40B4-BE49-F238E27FC236}">
                <a16:creationId xmlns:a16="http://schemas.microsoft.com/office/drawing/2014/main" id="{BC5E7584-8FB7-4671-28BC-327854FFE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796" y="1122830"/>
            <a:ext cx="3743083" cy="26769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61D373-B0AB-7F6E-A31A-D67B404A2863}"/>
              </a:ext>
            </a:extLst>
          </p:cNvPr>
          <p:cNvSpPr txBox="1"/>
          <p:nvPr/>
        </p:nvSpPr>
        <p:spPr>
          <a:xfrm>
            <a:off x="8254623" y="731520"/>
            <a:ext cx="1621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Agglomerative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E0852E-58AD-CD76-B593-A2BD354E57CE}"/>
              </a:ext>
            </a:extLst>
          </p:cNvPr>
          <p:cNvSpPr txBox="1">
            <a:spLocks/>
          </p:cNvSpPr>
          <p:nvPr/>
        </p:nvSpPr>
        <p:spPr>
          <a:xfrm>
            <a:off x="2475673" y="115233"/>
            <a:ext cx="7013448" cy="61628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ts val="4875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+mn-lt"/>
              </a:rPr>
              <a:t>Evaluation Metrics</a:t>
            </a:r>
            <a:endParaRPr lang="en-US" dirty="0">
              <a:latin typeface="+mn-lt"/>
            </a:endParaRPr>
          </a:p>
        </p:txBody>
      </p:sp>
      <p:pic>
        <p:nvPicPr>
          <p:cNvPr id="12" name="Picture 11" descr="A graph with a blue line&#10;&#10;Description automatically generated with medium confidence">
            <a:extLst>
              <a:ext uri="{FF2B5EF4-FFF2-40B4-BE49-F238E27FC236}">
                <a16:creationId xmlns:a16="http://schemas.microsoft.com/office/drawing/2014/main" id="{9E4E3800-2A56-9453-4D2D-CCD88F23D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386" y="4043986"/>
            <a:ext cx="3585194" cy="2612555"/>
          </a:xfrm>
          <a:prstGeom prst="rect">
            <a:avLst/>
          </a:prstGeom>
        </p:spPr>
      </p:pic>
      <p:pic>
        <p:nvPicPr>
          <p:cNvPr id="14" name="Picture 13" descr="A graph with a blue line&#10;&#10;Description automatically generated with low confidence">
            <a:extLst>
              <a:ext uri="{FF2B5EF4-FFF2-40B4-BE49-F238E27FC236}">
                <a16:creationId xmlns:a16="http://schemas.microsoft.com/office/drawing/2014/main" id="{250A6CD9-BDD3-BE76-92A2-F30E481C95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646" y="4070713"/>
            <a:ext cx="3743084" cy="272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150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-Color-Block_Win32_jx_v9.potx" id="{B1D493D9-AF74-4AD6-8F0C-5B1308D7041B}" vid="{1AA99070-5A1F-42D2-9F5B-E7354C964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{F051DB89-B32E-4BDE-9345-0D6040C7DB14}tf78438558_win32</Template>
  <TotalTime>123</TotalTime>
  <Words>382</Words>
  <Application>Microsoft Office PowerPoint</Application>
  <PresentationFormat>Widescreen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Sabon Next LT</vt:lpstr>
      <vt:lpstr>Office Theme</vt:lpstr>
      <vt:lpstr>Amazon food reviews clustering using K-Means, K-Means++ and Agglomerative clustering Algorithms </vt:lpstr>
      <vt:lpstr>GOALS</vt:lpstr>
      <vt:lpstr>How did we do it?</vt:lpstr>
      <vt:lpstr>PowerPoint Presentation</vt:lpstr>
      <vt:lpstr>Preprocessing the data</vt:lpstr>
      <vt:lpstr>Feature Extraction using TFIDF </vt:lpstr>
      <vt:lpstr>Implemented PCA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food reviews clustering using K-Means and K-Means++ </dc:title>
  <dc:subject/>
  <dc:creator>Upasana Chaudhari</dc:creator>
  <cp:lastModifiedBy>Upasana Chaudhari</cp:lastModifiedBy>
  <cp:revision>10</cp:revision>
  <dcterms:created xsi:type="dcterms:W3CDTF">2023-06-08T17:33:05Z</dcterms:created>
  <dcterms:modified xsi:type="dcterms:W3CDTF">2023-06-08T19:52:29Z</dcterms:modified>
</cp:coreProperties>
</file>